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modern_educational_business_classroom_offi.png">    </p:cNvPr>
          <p:cNvPicPr>
            <a:picLocks noChangeAspect="1"/>
          </p:cNvPicPr>
          <p:nvPr/>
        </p:nvPicPr>
        <p:blipFill>
          <a:blip r:embed="rId1"/>
          <a:srcRect l="21120" r="21120" t="0" b="0"/>
          <a:stretch/>
        </p:blipFill>
        <p:spPr>
          <a:xfrm>
            <a:off x="6126480" y="457200"/>
            <a:ext cx="5349240" cy="5212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40080" y="6858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DATA 200 Applied Statistical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170432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Predicting Student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Academic Performance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Exploring real-world student data through statistical and predictive modeling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3858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Team United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" y="416966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ctr">
              <a:buNone/>
              <a:defRPr sz="1300">
                <a:solidFill>
                  <a:srgbClr val="FFFFFF"/>
                </a:solidFill>
              </a:defRPr>
            </a:pPr>
            <a:r>
              <a:t>Samrat Jung Shahi  •  Saksham Smith Sunar  •  Rishav Yadav  •  Aryan Shrestha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62636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Dataset: UCI Student Performance | Target: G3 final grade</a:t>
            </a:r>
            <a:endParaRPr lang="en-US" sz="1050" dirty="0"/>
          </a:p>
        </p:txBody>
      </p:sp>
      <p:sp>
        <p:nvSpPr>
          <p:cNvPr id="10" name="TeamPlan1"/>
          <p:cNvSpPr/>
          <p:nvPr/>
        </p:nvSpPr>
        <p:spPr>
          <a:xfrm>
            <a:off x="594360" y="5074920"/>
            <a:ext cx="2743200" cy="7315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8FB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18288"/>
          <a:lstStyle/>
          <a:p>
            <a:pPr algn="ctr">
              <a:defRPr sz="919" b="1">
                <a:solidFill>
                  <a:srgbClr val="0F2A52"/>
                </a:solidFill>
              </a:defRPr>
            </a:pPr>
            <a:r>
              <a:t>Samrat Jung Shahi</a:t>
            </a:r>
          </a:p>
          <a:p>
            <a:pPr algn="ctr">
              <a:defRPr sz="800">
                <a:solidFill>
                  <a:srgbClr val="2170B5"/>
                </a:solidFill>
              </a:defRPr>
            </a:pPr>
            <a:r>
              <a:t>Slides 2–4</a:t>
            </a:r>
          </a:p>
          <a:p>
            <a:pPr algn="ctr">
              <a:defRPr sz="680">
                <a:solidFill>
                  <a:srgbClr val="1E2D41"/>
                </a:solidFill>
              </a:defRPr>
            </a:pPr>
            <a:r>
              <a:t>Introduction | Problem Statement | Literature Review</a:t>
            </a:r>
          </a:p>
        </p:txBody>
      </p:sp>
      <p:sp>
        <p:nvSpPr>
          <p:cNvPr id="11" name="TeamPlan2"/>
          <p:cNvSpPr/>
          <p:nvPr/>
        </p:nvSpPr>
        <p:spPr>
          <a:xfrm>
            <a:off x="3474720" y="5074920"/>
            <a:ext cx="2743200" cy="7315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8FB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18288"/>
          <a:lstStyle/>
          <a:p>
            <a:pPr algn="ctr">
              <a:defRPr sz="919" b="1">
                <a:solidFill>
                  <a:srgbClr val="0F2A52"/>
                </a:solidFill>
              </a:defRPr>
            </a:pPr>
            <a:r>
              <a:t>Saksham Smith Sunar</a:t>
            </a:r>
          </a:p>
          <a:p>
            <a:pPr algn="ctr">
              <a:defRPr sz="800">
                <a:solidFill>
                  <a:srgbClr val="2170B5"/>
                </a:solidFill>
              </a:defRPr>
            </a:pPr>
            <a:r>
              <a:t>Slides 5–7</a:t>
            </a:r>
          </a:p>
          <a:p>
            <a:pPr algn="ctr">
              <a:defRPr sz="680">
                <a:solidFill>
                  <a:srgbClr val="1E2D41"/>
                </a:solidFill>
              </a:defRPr>
            </a:pPr>
            <a:r>
              <a:t>Dataset Selection | Data Cleaning | EDA Overview</a:t>
            </a:r>
          </a:p>
        </p:txBody>
      </p:sp>
      <p:sp>
        <p:nvSpPr>
          <p:cNvPr id="12" name="TeamPlan3"/>
          <p:cNvSpPr/>
          <p:nvPr/>
        </p:nvSpPr>
        <p:spPr>
          <a:xfrm>
            <a:off x="6355080" y="5074920"/>
            <a:ext cx="2743200" cy="7315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8FB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18288"/>
          <a:lstStyle/>
          <a:p>
            <a:pPr algn="ctr">
              <a:defRPr sz="919" b="1">
                <a:solidFill>
                  <a:srgbClr val="0F2A52"/>
                </a:solidFill>
              </a:defRPr>
            </a:pPr>
            <a:r>
              <a:t>Rishav Yadav</a:t>
            </a:r>
          </a:p>
          <a:p>
            <a:pPr algn="ctr">
              <a:defRPr sz="800">
                <a:solidFill>
                  <a:srgbClr val="2170B5"/>
                </a:solidFill>
              </a:defRPr>
            </a:pPr>
            <a:r>
              <a:t>Slides 8–10</a:t>
            </a:r>
          </a:p>
          <a:p>
            <a:pPr algn="ctr">
              <a:defRPr sz="680">
                <a:solidFill>
                  <a:srgbClr val="1E2D41"/>
                </a:solidFill>
              </a:defRPr>
            </a:pPr>
            <a:r>
              <a:t>Strongest Predictors | Group Comparisons | Context Variables</a:t>
            </a:r>
          </a:p>
        </p:txBody>
      </p:sp>
      <p:sp>
        <p:nvSpPr>
          <p:cNvPr id="13" name="TeamPlan4"/>
          <p:cNvSpPr/>
          <p:nvPr/>
        </p:nvSpPr>
        <p:spPr>
          <a:xfrm>
            <a:off x="9235440" y="5074920"/>
            <a:ext cx="2743200" cy="7315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8FB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18288"/>
          <a:lstStyle/>
          <a:p>
            <a:pPr algn="ctr">
              <a:defRPr sz="919" b="1">
                <a:solidFill>
                  <a:srgbClr val="0F2A52"/>
                </a:solidFill>
              </a:defRPr>
            </a:pPr>
            <a:r>
              <a:t>Aryan Shrestha</a:t>
            </a:r>
          </a:p>
          <a:p>
            <a:pPr algn="ctr">
              <a:defRPr sz="800">
                <a:solidFill>
                  <a:srgbClr val="2170B5"/>
                </a:solidFill>
              </a:defRPr>
            </a:pPr>
            <a:r>
              <a:t>Slides 11–13</a:t>
            </a:r>
          </a:p>
          <a:p>
            <a:pPr algn="ctr">
              <a:defRPr sz="680">
                <a:solidFill>
                  <a:srgbClr val="1E2D41"/>
                </a:solidFill>
              </a:defRPr>
            </a:pPr>
            <a:r>
              <a:t>Modeling | Evaluation Metrics | Streamlit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academic performance prediction matters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417320"/>
            <a:ext cx="475488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performance is affected by academic history, study behavior, family context, and school-related factors.</a:t>
            </a:r>
            <a:endParaRPr lang="en-US" sz="1320" dirty="0"/>
          </a:p>
          <a:p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modeling helps identify which factors have meaningful associations with final grades.</a:t>
            </a:r>
            <a:endParaRPr lang="en-US" sz="1320" dirty="0"/>
          </a:p>
          <a:p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to label students, but to support early awareness and better academic planning.</a:t>
            </a:r>
            <a:endParaRPr lang="en-US" sz="1320" dirty="0"/>
          </a:p>
          <a:p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uses a real-world education dataset and keeps the focus on statistical explanation.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85800" y="4590288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4727448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Project purpose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0392" y="5020056"/>
            <a:ext cx="442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Analyze student data, develop hypotheses, build regression models, evaluate prediction quality, and demonstrate results through a simple Streamlit app.</a:t>
            </a:r>
            <a:endParaRPr lang="en-US" sz="1150" dirty="0"/>
          </a:p>
        </p:txBody>
      </p:sp>
      <p:pic>
        <p:nvPicPr>
          <p:cNvPr id="9" name="Image 0" descr="/mnt/data/DATA200_12_visuals/01_final_grad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909356"/>
            <a:ext cx="5394960" cy="299356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29400" y="5632704"/>
            <a:ext cx="4023360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93408" y="5687568"/>
            <a:ext cx="38953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Final grade is measured on a 0–20 scale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Samrat</a:t>
            </a:r>
          </a:p>
        </p:txBody>
      </p:sp>
      <p:sp>
        <p:nvSpPr>
          <p:cNvPr id="15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Samrat Jung Shahi: Introduction • Problem Statement • Literature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question and research direction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298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Main research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507492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220"/>
                </a:solidFill>
              </a:rPr>
              <a:t>What academic, behavioral, family, and school-related factors are significantly associated with students’ final academic performance, and how accurately can Multiple Linear Regression predict a student’s final grade?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480060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study time associated with final grade?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previous grades strongly predict final grade?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absences, failures, support, and internet access related to performance?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factors remain useful after controlling for other variables?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777240" y="5175504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41832" y="5312664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Statistical scope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1832" y="5605272"/>
            <a:ext cx="4379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Association and prediction only. We do not claim causation from this observational dataset.</a:t>
            </a:r>
            <a:endParaRPr lang="en-US" sz="1150" dirty="0"/>
          </a:p>
        </p:txBody>
      </p:sp>
      <p:pic>
        <p:nvPicPr>
          <p:cNvPr id="11" name="Image 0" descr="/mnt/data/DATA200_12_visuals/02_study_time_vs_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931387"/>
            <a:ext cx="5074920" cy="313238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4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Samrat</a:t>
            </a:r>
          </a:p>
        </p:txBody>
      </p:sp>
      <p:sp>
        <p:nvSpPr>
          <p:cNvPr id="15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Samrat Jung Shahi: Introduction • Problem Statement • Literature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work supports using previous grades, behavior, and school variables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8368" y="1298448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43560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Cortez &amp; Silva (2008)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728216"/>
            <a:ext cx="2551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Predicted secondary school achievement using student demographic, social, school, and prior-grade variables. Their work directly supports our dataset and target variable design.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1298448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70832" y="143560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Adhatrao et al. (2013)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70832" y="1728216"/>
            <a:ext cx="2551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Used decision-tree methods to predict student performance from prior academic records. It shows why earlier performance can be one of the strongest predictors.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54112" y="1298448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18704" y="143560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Ramaswami &amp; Bhaskaran (2010)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18704" y="1728216"/>
            <a:ext cx="2551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Used CHAID-based educational data mining to identify factors related to school performance, showing the importance of preprocessing and variable selection.</a:t>
            </a:r>
            <a:endParaRPr lang="en-US" sz="1150" dirty="0"/>
          </a:p>
        </p:txBody>
      </p:sp>
      <p:pic>
        <p:nvPicPr>
          <p:cNvPr id="14" name="Image 0" descr="/mnt/data/DATA200_12_visuals/04_G2_vs_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577" y="3730752"/>
            <a:ext cx="3777726" cy="2331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17920" y="37856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Literature synthesis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640" y="4160520"/>
            <a:ext cx="46634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studies show academic history is usually highly predictive.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 and family variables can add explanatory value.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project keeps the model interpretable by using regression and statistical tests.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63640" y="587044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Sources: Cortez &amp; Silva, 2008; Adhatrao et al., 2013; Ramaswami &amp; Bhaskaran, 2010.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20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Samrat</a:t>
            </a:r>
          </a:p>
        </p:txBody>
      </p:sp>
      <p:sp>
        <p:nvSpPr>
          <p:cNvPr id="21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Samrat Jung Shahi: Introduction • Problem Statement • Literature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Selection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UCI Student Performance dataset: real, documented, and regression-ready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32588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143560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649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175564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student records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965960" y="132588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039112" y="143560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33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39112" y="175564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variables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19272" y="143560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G3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9272" y="175564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final-grade target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526280" y="132588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99432" y="143560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9432" y="175564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missing values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77240" y="2423160"/>
            <a:ext cx="493776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UCI Machine Learning Repository.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are from two Portuguese secondary schools.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includes demographic, family, school, behavioral, and grade variables.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grade, G3, is numerical, so Multiple Linear Regression is appropriate.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777240" y="480060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1832" y="4937760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Key limitation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1832" y="523036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The dataset is observational. It supports statistical association and prediction, but not causal claims.</a:t>
            </a:r>
            <a:endParaRPr lang="en-US" sz="1150" dirty="0"/>
          </a:p>
        </p:txBody>
      </p:sp>
      <p:pic>
        <p:nvPicPr>
          <p:cNvPr id="21" name="Image 0" descr="/mnt/data/DATA200_12_visuals/05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32108"/>
            <a:ext cx="5120640" cy="417666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263640" y="59253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Source: UCI Machine Learning Repository, Student Performance dataset.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25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Saksham</a:t>
            </a:r>
          </a:p>
        </p:txBody>
      </p:sp>
      <p:sp>
        <p:nvSpPr>
          <p:cNvPr id="26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Saksham Smith Sunar: Dataset Selection • Data Cleaning • EDA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Process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quality before modeling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325880"/>
            <a:ext cx="1298448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86384" y="143560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6384" y="1755648"/>
            <a:ext cx="1152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missing values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212848" y="1325880"/>
            <a:ext cx="1298448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86000" y="143560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755648"/>
            <a:ext cx="1152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duplicate rows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712464" y="13258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85616" y="14356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85616" y="1755648"/>
            <a:ext cx="1389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absence outliers flagged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7724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Loaded and inspected rows, columns, data types, and valid value ranges.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Checked missing values and exact duplicates before analysis.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the IQR method to flag unusual values, especially high absences.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not automatically remove outliers because unusual observations can still be valid student records.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77240" y="5056632"/>
            <a:ext cx="4800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1832" y="5193792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Cleaning decision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41832" y="5486400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Keep all valid records for the main analysis. Discuss unusual observations clearly in the limitations section.</a:t>
            </a:r>
            <a:endParaRPr lang="en-US" sz="1150" dirty="0"/>
          </a:p>
        </p:txBody>
      </p:sp>
      <p:pic>
        <p:nvPicPr>
          <p:cNvPr id="18" name="Image 0" descr="/mnt/data/DATA200_12_visuals/03_absences_vs_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926028"/>
            <a:ext cx="5166360" cy="318882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21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Saksham</a:t>
            </a:r>
          </a:p>
        </p:txBody>
      </p:sp>
      <p:sp>
        <p:nvSpPr>
          <p:cNvPr id="22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Saksham Smith Sunar: Dataset Selection • Data Cleaning • EDA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Performance Distribution and Study Patterns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visual evidence from the actual dataset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DATA200_12_visuals/01_final_grad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8392"/>
            <a:ext cx="3657600" cy="2029537"/>
          </a:xfrm>
          <a:prstGeom prst="rect">
            <a:avLst/>
          </a:prstGeom>
        </p:spPr>
      </p:pic>
      <p:pic>
        <p:nvPicPr>
          <p:cNvPr id="6" name="Image 1" descr="/mnt/data/DATA200_12_visuals/02_study_time_vs_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294373"/>
            <a:ext cx="3657600" cy="2257575"/>
          </a:xfrm>
          <a:prstGeom prst="rect">
            <a:avLst/>
          </a:prstGeom>
        </p:spPr>
      </p:pic>
      <p:pic>
        <p:nvPicPr>
          <p:cNvPr id="7" name="Image 2" descr="/mnt/data/DATA200_12_visuals/03_absences_vs_gra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294373"/>
            <a:ext cx="3657600" cy="22575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160520"/>
            <a:ext cx="106070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final grades are concentrated around the middle of the 0–20 scale.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final grade tends to increase from very low study time to moderate/high study time.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Absences show a weaker and noisier relationship with final grade than previous grades or study time.</a:t>
            </a:r>
            <a:endParaRPr lang="en-US" sz="1220" dirty="0"/>
          </a:p>
        </p:txBody>
      </p:sp>
      <p:sp>
        <p:nvSpPr>
          <p:cNvPr id="9" name="Shape 4"/>
          <p:cNvSpPr/>
          <p:nvPr/>
        </p:nvSpPr>
        <p:spPr>
          <a:xfrm>
            <a:off x="1965960" y="553212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130552" y="5669280"/>
            <a:ext cx="7717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EDA caution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130552" y="5961888"/>
            <a:ext cx="7717536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These charts show patterns and possible relationships. They do not prove cause-and-effect.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14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Saksham</a:t>
            </a:r>
          </a:p>
        </p:txBody>
      </p:sp>
      <p:sp>
        <p:nvSpPr>
          <p:cNvPr id="15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Saksham Smith Sunar: Dataset Selection • Data Cleaning • EDA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Strongest Predictors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grades dominate simple relationships with final grade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DATA200_12_visuals/04_G2_vs_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1518"/>
            <a:ext cx="5120640" cy="3160605"/>
          </a:xfrm>
          <a:prstGeom prst="rect">
            <a:avLst/>
          </a:prstGeom>
        </p:spPr>
      </p:pic>
      <p:pic>
        <p:nvPicPr>
          <p:cNvPr id="6" name="Image 1" descr="/mnt/data/DATA200_12_visuals/05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676" y="1143000"/>
            <a:ext cx="5100847" cy="4160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05840" y="5330952"/>
            <a:ext cx="9875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1170432" y="5468112"/>
            <a:ext cx="9546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Main EDA insight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170432" y="5760720"/>
            <a:ext cx="9546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G2 and G1 have the strongest simple correlations with G3. This is why we compare an explanatory model without previous grades against a predictive model with previous grades.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  <p:sp>
        <p:nvSpPr>
          <p:cNvPr id="12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Rishav</a:t>
            </a:r>
          </a:p>
        </p:txBody>
      </p:sp>
      <p:sp>
        <p:nvSpPr>
          <p:cNvPr id="13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Rishav Yadav: Strongest Predictors • Group Comparisons • Context Variables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Group Comparisons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Differences appear across support, school, future plans, and prior failures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DATA200_12_visuals/06_family_support_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2050"/>
            <a:ext cx="2788920" cy="1939300"/>
          </a:xfrm>
          <a:prstGeom prst="rect">
            <a:avLst/>
          </a:prstGeom>
        </p:spPr>
      </p:pic>
      <p:pic>
        <p:nvPicPr>
          <p:cNvPr id="6" name="Image 1" descr="/mnt/data/DATA200_12_visuals/07_school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73672"/>
            <a:ext cx="2788920" cy="1596056"/>
          </a:xfrm>
          <a:prstGeom prst="rect">
            <a:avLst/>
          </a:prstGeom>
        </p:spPr>
      </p:pic>
      <p:pic>
        <p:nvPicPr>
          <p:cNvPr id="7" name="Image 2" descr="/mnt/data/DATA200_12_visuals/08_higher_education_int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02050"/>
            <a:ext cx="2788920" cy="1939300"/>
          </a:xfrm>
          <a:prstGeom prst="rect">
            <a:avLst/>
          </a:prstGeom>
        </p:spPr>
      </p:pic>
      <p:pic>
        <p:nvPicPr>
          <p:cNvPr id="8" name="Image 3" descr="/mnt/data/DATA200_12_visuals/09_failures_vs_gra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311000"/>
            <a:ext cx="2788920" cy="17214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31520" y="3794760"/>
            <a:ext cx="107899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planning higher education show a much higher average final grade than those who do not.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failures are associated with lower average final grades.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and family support can be tested as categorical predictors using dummy variables or group tests.</a:t>
            </a:r>
            <a:endParaRPr lang="en-US" sz="1240" dirty="0"/>
          </a:p>
        </p:txBody>
      </p:sp>
      <p:sp>
        <p:nvSpPr>
          <p:cNvPr id="10" name="Shape 4"/>
          <p:cNvSpPr/>
          <p:nvPr/>
        </p:nvSpPr>
        <p:spPr>
          <a:xfrm>
            <a:off x="1005840" y="5486400"/>
            <a:ext cx="10058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Text 5"/>
          <p:cNvSpPr/>
          <p:nvPr/>
        </p:nvSpPr>
        <p:spPr>
          <a:xfrm>
            <a:off x="1170432" y="5623560"/>
            <a:ext cx="9729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Method link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1170432" y="5916168"/>
            <a:ext cx="9729216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These visuals support ANOVA/t-test comparisons and help decide which categorical variables belong in the regression model.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  <p:sp>
        <p:nvSpPr>
          <p:cNvPr id="15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Rishav</a:t>
            </a:r>
          </a:p>
        </p:txBody>
      </p:sp>
      <p:sp>
        <p:nvSpPr>
          <p:cNvPr id="16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Rishav Yadav: Strongest Predictors • Group Comparisons • Context Variables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Family and Lifestyle Context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variables add interpretation beyond test scores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DATA200_12_visuals/10_mother_education_vs_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92150"/>
            <a:ext cx="3520440" cy="2172916"/>
          </a:xfrm>
          <a:prstGeom prst="rect">
            <a:avLst/>
          </a:prstGeom>
        </p:spPr>
      </p:pic>
      <p:pic>
        <p:nvPicPr>
          <p:cNvPr id="6" name="Image 1" descr="/mnt/data/DATA200_12_visuals/11_internet_grade_ba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492150"/>
            <a:ext cx="3520440" cy="2172916"/>
          </a:xfrm>
          <a:prstGeom prst="rect">
            <a:avLst/>
          </a:prstGeom>
        </p:spPr>
      </p:pic>
      <p:pic>
        <p:nvPicPr>
          <p:cNvPr id="7" name="Image 2" descr="/mnt/data/DATA200_12_visuals/12_weekend_alcohol_vs_gra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492150"/>
            <a:ext cx="3520440" cy="21729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480560"/>
            <a:ext cx="106984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Mother’s education level shows a generally positive pattern with final grade.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internet access is associated with different grade-band distributions.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weekend alcohol level shows lower average final grade in the visual trend.</a:t>
            </a:r>
            <a:endParaRPr lang="en-US" sz="1240" dirty="0"/>
          </a:p>
        </p:txBody>
      </p:sp>
      <p:sp>
        <p:nvSpPr>
          <p:cNvPr id="9" name="Shape 4"/>
          <p:cNvSpPr/>
          <p:nvPr/>
        </p:nvSpPr>
        <p:spPr>
          <a:xfrm>
            <a:off x="1051560" y="5687568"/>
            <a:ext cx="10012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1216152" y="5824728"/>
            <a:ext cx="9683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Interpretation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1216152" y="6117336"/>
            <a:ext cx="9683496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These variables are useful for explanation, but they should be interpreted carefully because they may be connected to other social and academic factors.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14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Rishav</a:t>
            </a:r>
          </a:p>
        </p:txBody>
      </p:sp>
      <p:sp>
        <p:nvSpPr>
          <p:cNvPr id="15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Rishav Yadav: Strongest Predictors • Group Comparisons • Context Variables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Modeling: Why Multiple Linear Regression?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G3 is numerical, so regression fits the project objective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353312"/>
            <a:ext cx="51663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variable, G3, is a numeric final grade from 0 to 20.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Linear Regression estimates how predictors relate to G3 while controlling for other variables.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Statsmodels provides coefficients, standard errors, t-values, p-values, confidence intervals, R², and adjusted R².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 is used separately for train/test prediction evaluation.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3822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Regression equation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418795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220"/>
                </a:solidFill>
              </a:rPr>
              <a:t>G3 = β₀ + β₁(StudyTime) + β₂(Failures) + β₃(Absences) + β₄(Parent Education) + … + ε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0" y="1444752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65392" y="158191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Model A: Explanatory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65392" y="1874520"/>
            <a:ext cx="4059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Excludes G1 and G2. Focuses on academic, family, behavioral, and school-related factors.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2816352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65392" y="295351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Model B: Predictive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65392" y="3246120"/>
            <a:ext cx="4059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Includes G1 and G2. Focuses on prediction when previous performance is already known.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4187952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65392" y="432511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Assumptions to check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5392" y="4617720"/>
            <a:ext cx="4059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Linearity, independence, residual normality, homoscedasticity, and multicollinearity using VIF.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19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Aryan</a:t>
            </a:r>
          </a:p>
        </p:txBody>
      </p:sp>
      <p:sp>
        <p:nvSpPr>
          <p:cNvPr id="20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Aryan Shrestha: Modeling • Evaluation Metrics • Streamlit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judge statistical fit and predictive performance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4356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R²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755648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variation explained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42316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496312" y="14356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Adj. R²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96312" y="1755648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penalizes extra predictors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11480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87952" y="14356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MAE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87952" y="1755648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average grade-point error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80644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879592" y="14356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RMSE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79592" y="1755648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penalizes larger errors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49808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71232" y="14356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p-value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71232" y="1755648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statistical significance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18972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62872" y="14356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VIF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62872" y="1755648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multicollinearity check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992124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p-values and confidence intervals for inference: which predictors are statistically significant?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R² and adjusted R² to explain overall model fit.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MAE and RMSE on a train/test split to evaluate prediction error in grade points.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residual plots and Q-Q plots to check whether model assumptions are reasonable.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Model A and Model B to show the difference between explanatory modeling and predictive modeling.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88720" y="5303520"/>
            <a:ext cx="932688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53312" y="5440680"/>
            <a:ext cx="8997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Reporting rule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53312" y="5733288"/>
            <a:ext cx="8997696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We will report only values generated from the actual dataset in Colab. We will not invent coefficients, p-values, or performance scores.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29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Aryan</a:t>
            </a:r>
          </a:p>
        </p:txBody>
      </p:sp>
      <p:sp>
        <p:nvSpPr>
          <p:cNvPr id="30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Aryan Shrestha: Modeling • Evaluation Metrics • Streamlit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 Application Demo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local app for exploring data and making grade predictions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099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261872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Student Academic Performance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05740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Study time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2020824"/>
            <a:ext cx="2606040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542032" y="206654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2–5 hours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7552" y="24963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Failures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2459736"/>
            <a:ext cx="2606040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42032" y="250545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87552" y="293522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Absences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2898648"/>
            <a:ext cx="2606040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42032" y="294436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8755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Internet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23160" y="3337560"/>
            <a:ext cx="2606040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542032" y="3383280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Yes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87552" y="381304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Family support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23160" y="3776472"/>
            <a:ext cx="2606040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42032" y="3822192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Yes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87552" y="425196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G1 / G2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23160" y="4215384"/>
            <a:ext cx="2606040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542032" y="426110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12 / 13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05840" y="4828032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15568" y="5001768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Predicted Final Grade: generated by model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1298448"/>
            <a:ext cx="5349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08192" y="1435608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App sections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08192" y="1728216"/>
            <a:ext cx="5020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Home • Dataset • EDA • Statistical Analysis • Prediction • Model Performance • About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80760" y="2423160"/>
            <a:ext cx="498348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view the dataset and descriptive statistics.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interact with EDA charts and categorical comparisons.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displays regression results, p-values, R², MAE, RMSE, and diagnostic plots.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prediction page estimates G3 from user-selected student characteristics.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is designed for a short 1–2 minute final presentation demo.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612648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Run locally:  pip install -r requirements.txt   →   streamlit run app.py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0" y="587044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References: UCI Student Performance dataset; Cortez &amp; Silva (2008); Adhatrao et al. (2013); Ramaswami &amp; Bhaskaran (2010).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200 Applied Statistical Analysis  |  Team United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35" name="PresenterBadge"/>
          <p:cNvSpPr/>
          <p:nvPr/>
        </p:nvSpPr>
        <p:spPr>
          <a:xfrm>
            <a:off x="8366760" y="164592"/>
            <a:ext cx="2743200" cy="438912"/>
          </a:xfrm>
          <a:prstGeom prst="roundRect">
            <a:avLst/>
          </a:prstGeom>
          <a:solidFill>
            <a:srgbClr val="1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Speaker: Aryan</a:t>
            </a:r>
          </a:p>
        </p:txBody>
      </p:sp>
      <p:sp>
        <p:nvSpPr>
          <p:cNvPr id="36" name="SpeakerBar"/>
          <p:cNvSpPr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80">
                <a:solidFill>
                  <a:srgbClr val="233A56"/>
                </a:solidFill>
              </a:defRPr>
            </a:pPr>
            <a:r>
              <a:t>Aryan Shrestha: Modeling • Evaluation Metrics • Streamlit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DATA 200 Applied Statistical Analysis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200 Student Performance Project</dc:title>
  <dc:subject>Predicting Student Academic Performance</dc:subject>
  <dc:creator>Team United</dc:creator>
  <cp:lastModifiedBy>Team United</cp:lastModifiedBy>
  <cp:revision>1</cp:revision>
  <dcterms:created xsi:type="dcterms:W3CDTF">2026-10-08T13:38:46Z</dcterms:created>
  <dcterms:modified xsi:type="dcterms:W3CDTF">2026-10-08T13:38:46Z</dcterms:modified>
</cp:coreProperties>
</file>